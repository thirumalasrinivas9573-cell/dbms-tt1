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85" r:id="rId5"/>
    <p:sldId id="284" r:id="rId6"/>
    <p:sldId id="288" r:id="rId7"/>
    <p:sldId id="287" r:id="rId8"/>
    <p:sldId id="300" r:id="rId9"/>
    <p:sldId id="292" r:id="rId10"/>
    <p:sldId id="293" r:id="rId11"/>
    <p:sldId id="294" r:id="rId12"/>
    <p:sldId id="295" r:id="rId13"/>
    <p:sldId id="296" r:id="rId14"/>
    <p:sldId id="299" r:id="rId15"/>
    <p:sldId id="297" r:id="rId16"/>
    <p:sldId id="268" r:id="rId17"/>
    <p:sldId id="269" r:id="rId18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4" autoAdjust="0"/>
    <p:restoredTop sz="94660"/>
  </p:normalViewPr>
  <p:slideViewPr>
    <p:cSldViewPr>
      <p:cViewPr varScale="1">
        <p:scale>
          <a:sx n="57" d="100"/>
          <a:sy n="57" d="100"/>
        </p:scale>
        <p:origin x="187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veen Tummalapalli" userId="e444c343893e5658" providerId="LiveId" clId="{F6DCF4A8-8CD3-4B0D-A99D-BFFE07C3EB99}"/>
    <pc:docChg chg="delSld">
      <pc:chgData name="Praveen Tummalapalli" userId="e444c343893e5658" providerId="LiveId" clId="{F6DCF4A8-8CD3-4B0D-A99D-BFFE07C3EB99}" dt="2026-09-30T19:54:02.222" v="0" actId="2696"/>
      <pc:docMkLst>
        <pc:docMk/>
      </pc:docMkLst>
      <pc:sldChg chg="del">
        <pc:chgData name="Praveen Tummalapalli" userId="e444c343893e5658" providerId="LiveId" clId="{F6DCF4A8-8CD3-4B0D-A99D-BFFE07C3EB99}" dt="2026-09-30T19:54:02.222" v="0" actId="2696"/>
        <pc:sldMkLst>
          <pc:docMk/>
          <pc:sldMk cId="1465065086" sldId="30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65624" y="1197215"/>
            <a:ext cx="7467599" cy="1012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  <a:defRPr sz="2500" b="1">
                <a:solidFill>
                  <a:srgbClr val="1E3755"/>
                </a:solidFill>
              </a:defRPr>
            </a:pPr>
            <a:r>
              <a:t>Database Management Systems Cornerstone Project</a:t>
            </a:r>
            <a:br/>
            <a:r>
              <a:t>Final Review (Review II)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53494" y="2514600"/>
            <a:ext cx="8751412" cy="247888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  <a:defRPr sz="2000" b="0">
                <a:solidFill>
                  <a:srgbClr val="232323"/>
                </a:solidFill>
              </a:defRPr>
            </a:pPr>
            <a:br>
              <a:rPr dirty="0"/>
            </a:br>
            <a:br>
              <a:rPr dirty="0"/>
            </a:br>
            <a:r>
              <a:rPr dirty="0"/>
              <a:t>Presented by</a:t>
            </a:r>
            <a:br>
              <a:rPr dirty="0"/>
            </a:br>
            <a:r>
              <a:rPr dirty="0"/>
              <a:t>D. Srinivas (25B11AID13)</a:t>
            </a:r>
            <a:br>
              <a:rPr dirty="0"/>
            </a:br>
            <a:r>
              <a:rPr dirty="0"/>
              <a:t>Ch. Sashank (26B21AI018)</a:t>
            </a:r>
            <a:br>
              <a:rPr dirty="0"/>
            </a:br>
            <a:r>
              <a:rPr dirty="0"/>
              <a:t>T. Praveen (25B11AIC12)</a:t>
            </a:r>
            <a:br>
              <a:rPr dirty="0"/>
            </a:br>
            <a:br>
              <a:rPr dirty="0"/>
            </a:br>
            <a:r>
              <a:rPr dirty="0"/>
              <a:t>Department of Artificial Intelligence &amp;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0000" y="1497893"/>
            <a:ext cx="4100000" cy="401776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  <a:defRPr sz="1500" b="0">
                <a:solidFill>
                  <a:srgbClr val="232323"/>
                </a:solidFill>
              </a:defRPr>
            </a:pPr>
            <a:r>
              <a:rPr sz="2000" dirty="0"/>
              <a:t>ABSTRACT</a:t>
            </a:r>
            <a:br>
              <a:rPr sz="2000" dirty="0"/>
            </a:br>
            <a:r>
              <a:rPr sz="2000" dirty="0"/>
              <a:t>Our Library Management System uses a relational database to manage users, books, physical copies, libraries, racks, borrowing and transfers.</a:t>
            </a:r>
            <a:br>
              <a:rPr sz="2000" dirty="0"/>
            </a:br>
            <a:br>
              <a:rPr sz="2000" dirty="0"/>
            </a:br>
            <a:r>
              <a:rPr sz="2000" dirty="0"/>
              <a:t>Review II focuses on implementation: table creation, constraints, sample data, SQL operations, CRUD, joins, aggregate queries, views, validation and documentation.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100000" y="1497893"/>
            <a:ext cx="4100000" cy="49410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 startAt="9"/>
              <a:tabLst>
                <a:tab pos="389890" algn="l"/>
              </a:tabLst>
              <a:defRPr sz="1500" b="0">
                <a:solidFill>
                  <a:srgbClr val="232323"/>
                </a:solidFill>
              </a:defRPr>
            </a:pPr>
            <a:r>
              <a:rPr sz="2000" dirty="0"/>
              <a:t>PRESENTATION OUTLINE</a:t>
            </a:r>
            <a:br>
              <a:rPr sz="2000" dirty="0"/>
            </a:br>
            <a:r>
              <a:rPr sz="2000" dirty="0"/>
              <a:t>• Project design &amp; problem statement</a:t>
            </a:r>
            <a:br>
              <a:rPr sz="2000" dirty="0"/>
            </a:br>
            <a:r>
              <a:rPr sz="2000" dirty="0"/>
              <a:t>• Entities, attributes &amp; ER diagram</a:t>
            </a:r>
            <a:br>
              <a:rPr sz="2000" dirty="0"/>
            </a:br>
            <a:r>
              <a:rPr sz="2000" dirty="0"/>
              <a:t>• Relational schema &amp; keys</a:t>
            </a:r>
            <a:br>
              <a:rPr sz="2000" dirty="0"/>
            </a:br>
            <a:r>
              <a:rPr sz="2000" dirty="0"/>
              <a:t>• GitHub repository &amp; team</a:t>
            </a:r>
            <a:br>
              <a:rPr sz="2000" dirty="0"/>
            </a:br>
            <a:r>
              <a:rPr sz="2000" dirty="0"/>
              <a:t>• Database &amp; constraints</a:t>
            </a:r>
            <a:br>
              <a:rPr sz="2000" dirty="0"/>
            </a:br>
            <a:r>
              <a:rPr sz="2000" dirty="0"/>
              <a:t>• Sample data</a:t>
            </a:r>
            <a:br>
              <a:rPr sz="2000" dirty="0"/>
            </a:br>
            <a:r>
              <a:rPr sz="2000" dirty="0"/>
              <a:t>• DDL, DML &amp; DQL</a:t>
            </a:r>
            <a:br>
              <a:rPr sz="2000" dirty="0"/>
            </a:br>
            <a:r>
              <a:rPr sz="2000" dirty="0"/>
              <a:t>• CRUD, joins, aggregates &amp; views</a:t>
            </a:r>
            <a:br>
              <a:rPr sz="2000" dirty="0"/>
            </a:br>
            <a:r>
              <a:rPr sz="2000" dirty="0"/>
              <a:t>• Data integrity &amp; validation</a:t>
            </a:r>
            <a:br>
              <a:rPr sz="2000" dirty="0"/>
            </a:br>
            <a:r>
              <a:rPr sz="2000" dirty="0"/>
              <a:t>• Documentation &amp; demonstration</a:t>
            </a:r>
            <a:br>
              <a:rPr sz="2000" dirty="0"/>
            </a:br>
            <a:r>
              <a:rPr sz="2000" dirty="0"/>
              <a:t>• Conclusion</a:t>
            </a:r>
          </a:p>
        </p:txBody>
      </p:sp>
      <p:grpSp>
        <p:nvGrpSpPr>
          <p:cNvPr id="5" name="object 3"/>
          <p:cNvGrpSpPr/>
          <p:nvPr/>
        </p:nvGrpSpPr>
        <p:grpSpPr>
          <a:xfrm>
            <a:off x="2362200" y="29493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057400" y="87730"/>
            <a:ext cx="7394821" cy="1162724"/>
            <a:chOff x="2703195" y="86439"/>
            <a:chExt cx="5106266" cy="1212168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05557" y="100296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2497309" y="276170"/>
            <a:ext cx="64868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755"/>
                </a:solidFill>
              </a:defRPr>
            </a:pPr>
            <a:r>
              <a:rPr dirty="0"/>
              <a:t>PROJECT TITLE, OBJECTIVES &amp; PROBLEM</a:t>
            </a:r>
            <a:r>
              <a:rPr lang="en-US" dirty="0"/>
              <a:t>		</a:t>
            </a:r>
            <a:endParaRPr dirty="0"/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8826DA-C0C7-3280-A179-8C72B3DEAD4E}"/>
              </a:ext>
            </a:extLst>
          </p:cNvPr>
          <p:cNvSpPr txBox="1"/>
          <p:nvPr/>
        </p:nvSpPr>
        <p:spPr>
          <a:xfrm>
            <a:off x="1600200" y="2133600"/>
            <a:ext cx="6324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" b="0">
                <a:solidFill>
                  <a:srgbClr val="232323"/>
                </a:solidFill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1234440"/>
            <a:ext cx="8069752" cy="4119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000" dirty="0"/>
              <a:t>Title: Library Management System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endParaRPr sz="2000" dirty="0"/>
          </a:p>
          <a:p>
            <a:pPr>
              <a:spcAft>
                <a:spcPts val="500"/>
              </a:spcAft>
              <a:defRPr sz="1600" b="1">
                <a:solidFill>
                  <a:srgbClr val="1E3755"/>
                </a:solidFill>
              </a:defRPr>
            </a:pPr>
            <a:r>
              <a:rPr sz="2000" dirty="0"/>
              <a:t>Problem: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000" dirty="0"/>
              <a:t>• Tracking books, copies, locations and borrowing manually is difficult.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000" dirty="0"/>
              <a:t>• A quantity-only system cannot identify the exact physical copy.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endParaRPr sz="2000" dirty="0"/>
          </a:p>
          <a:p>
            <a:pPr>
              <a:spcAft>
                <a:spcPts val="500"/>
              </a:spcAft>
              <a:defRPr sz="1600" b="1">
                <a:solidFill>
                  <a:srgbClr val="1E3755"/>
                </a:solidFill>
              </a:defRPr>
            </a:pPr>
            <a:r>
              <a:rPr sz="2000" dirty="0"/>
              <a:t>Objectives: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000" dirty="0"/>
              <a:t>• Maintain book and user records.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000" dirty="0"/>
              <a:t>• Track physical copies using unique barcodes.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000" dirty="0"/>
              <a:t>• Manage borrowing, returns and locations.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000" dirty="0"/>
              <a:t>• Provide reliable SQL search and reports.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42876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755"/>
                </a:solidFill>
              </a:defRPr>
            </a:pPr>
            <a:r>
              <a:rPr dirty="0"/>
              <a:t>ENTITIES &amp; ATTRIBUTES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1749471" y="2362200"/>
            <a:ext cx="6781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" b="0">
                <a:solidFill>
                  <a:srgbClr val="232323"/>
                </a:solidFill>
              </a:defRPr>
            </a:pPr>
            <a:endParaRPr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DB41476-C09E-9629-E870-1DFB5B20CA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650566"/>
              </p:ext>
            </p:extLst>
          </p:nvPr>
        </p:nvGraphicFramePr>
        <p:xfrm>
          <a:off x="324616" y="2042334"/>
          <a:ext cx="9352783" cy="42822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78079">
                  <a:extLst>
                    <a:ext uri="{9D8B030D-6E8A-4147-A177-3AD203B41FA5}">
                      <a16:colId xmlns:a16="http://schemas.microsoft.com/office/drawing/2014/main" val="2968010774"/>
                    </a:ext>
                  </a:extLst>
                </a:gridCol>
                <a:gridCol w="4674704">
                  <a:extLst>
                    <a:ext uri="{9D8B030D-6E8A-4147-A177-3AD203B41FA5}">
                      <a16:colId xmlns:a16="http://schemas.microsoft.com/office/drawing/2014/main" val="2471742783"/>
                    </a:ext>
                  </a:extLst>
                </a:gridCol>
              </a:tblGrid>
              <a:tr h="611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Important Attributes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7934352"/>
                  </a:ext>
                </a:extLst>
              </a:tr>
              <a:tr h="611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1. 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User_ID, Name, Email, Phone, User_Type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2487719"/>
                  </a:ext>
                </a:extLst>
              </a:tr>
              <a:tr h="611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2. AUTHOR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Author_ID, Author_Name, Biography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7931809"/>
                  </a:ext>
                </a:extLst>
              </a:tr>
              <a:tr h="611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3. BOOK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Book_ID, Title, ISBN, Category, Publisher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9182029"/>
                  </a:ext>
                </a:extLst>
              </a:tr>
              <a:tr h="611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4. BOOK_COPY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Copy_ID, Book_ID, Library_ID, Rack_ID, 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722121"/>
                  </a:ext>
                </a:extLst>
              </a:tr>
              <a:tr h="611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5. LIBRARY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Library_ID, Library_Name, Location, Contact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4867094"/>
                  </a:ext>
                </a:extLst>
              </a:tr>
              <a:tr h="611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6. RACK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 err="1"/>
                        <a:t>Rack_ID</a:t>
                      </a:r>
                      <a:r>
                        <a:rPr lang="en-IN" sz="1800" dirty="0"/>
                        <a:t>, </a:t>
                      </a:r>
                      <a:r>
                        <a:rPr lang="en-IN" sz="1800" dirty="0" err="1"/>
                        <a:t>Library_ID</a:t>
                      </a:r>
                      <a:r>
                        <a:rPr lang="en-IN" sz="1800" dirty="0"/>
                        <a:t>, </a:t>
                      </a:r>
                      <a:r>
                        <a:rPr lang="en-IN" sz="1800" dirty="0" err="1"/>
                        <a:t>Rack_Number</a:t>
                      </a:r>
                      <a:r>
                        <a:rPr lang="en-IN" sz="1800" dirty="0"/>
                        <a:t>, Section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539342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CEC5211-DBEF-954F-981C-65966730937E}"/>
              </a:ext>
            </a:extLst>
          </p:cNvPr>
          <p:cNvSpPr txBox="1"/>
          <p:nvPr/>
        </p:nvSpPr>
        <p:spPr>
          <a:xfrm>
            <a:off x="388143" y="1149588"/>
            <a:ext cx="8143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Our </a:t>
            </a:r>
            <a:r>
              <a:rPr lang="en-IN" b="1" dirty="0"/>
              <a:t>Library Management System</a:t>
            </a:r>
            <a:r>
              <a:rPr lang="en-IN" dirty="0"/>
              <a:t> contains the following main entities: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27A3C-9BEC-C61B-FC8D-3B949CD89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5F0E8CC-BDB8-7C3E-7C5E-012FD1252950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DBC28A04-FC65-6F36-8766-2B93E376E26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6F9D794-31EA-8ABA-A5E3-D49E7DEF13C2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E0767A3E-73A4-9967-916C-59851FE931A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5C64E3F9-2AFD-ACC7-6183-250AF43BDF5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01E94C25-6779-8458-E95E-F4782347F2B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D4973351-D6E2-D3B8-C7AF-9344AB18D3A7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0DE1838-629A-37A8-DB28-E5CABD39B264}"/>
              </a:ext>
            </a:extLst>
          </p:cNvPr>
          <p:cNvSpPr txBox="1"/>
          <p:nvPr/>
        </p:nvSpPr>
        <p:spPr>
          <a:xfrm>
            <a:off x="914400" y="320752"/>
            <a:ext cx="830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755"/>
                </a:solidFill>
              </a:defRPr>
            </a:pPr>
            <a:r>
              <a:t>ER DIAGRAM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0F592E-1BC5-A7E5-94A9-5EBA752B1D71}"/>
              </a:ext>
            </a:extLst>
          </p:cNvPr>
          <p:cNvSpPr txBox="1"/>
          <p:nvPr/>
        </p:nvSpPr>
        <p:spPr>
          <a:xfrm>
            <a:off x="1565713" y="2209800"/>
            <a:ext cx="69269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" b="0">
                <a:solidFill>
                  <a:srgbClr val="232323"/>
                </a:solidFill>
              </a:defRPr>
            </a:pPr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AF0E0C-212C-B8D8-8525-6A9F3814BE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95" y="886537"/>
            <a:ext cx="9822405" cy="676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973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FF62A-28CD-1AF0-FCC9-9795D9913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882BD3-FCF2-C56E-AAE2-C4D14D585E66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3CC86148-DFF8-3451-7947-2685EE95BD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A4DF9EE2-487D-D75F-149C-A5A989F91BE8}"/>
              </a:ext>
            </a:extLst>
          </p:cNvPr>
          <p:cNvGrpSpPr/>
          <p:nvPr/>
        </p:nvGrpSpPr>
        <p:grpSpPr>
          <a:xfrm>
            <a:off x="2579761" y="-153656"/>
            <a:ext cx="5103904" cy="1456404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1618242D-8DDA-301B-EF8C-793435D7B31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8669F432-648C-72A6-EE1E-52C40A5BB68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1D43B590-5504-6B74-CBB0-60480CB4BBC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82876794-728A-676B-5B3B-0E4A8320CD7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5FAEAFE-5DA8-E3CC-E08A-02ABAA5C5423}"/>
              </a:ext>
            </a:extLst>
          </p:cNvPr>
          <p:cNvSpPr txBox="1"/>
          <p:nvPr/>
        </p:nvSpPr>
        <p:spPr>
          <a:xfrm>
            <a:off x="2338626" y="304799"/>
            <a:ext cx="5586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755"/>
                </a:solidFill>
              </a:defRPr>
            </a:pPr>
            <a:r>
              <a:rPr dirty="0"/>
              <a:t>RELATIONAL DATABASE SCHEMA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895DB9-015F-1A5A-C9C5-048003F057DB}"/>
              </a:ext>
            </a:extLst>
          </p:cNvPr>
          <p:cNvSpPr txBox="1"/>
          <p:nvPr/>
        </p:nvSpPr>
        <p:spPr>
          <a:xfrm>
            <a:off x="2171700" y="2209800"/>
            <a:ext cx="6477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" b="0">
                <a:solidFill>
                  <a:srgbClr val="232323"/>
                </a:solidFill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5318" y="679024"/>
            <a:ext cx="9203082" cy="6737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lang="en-IN" sz="1400" dirty="0"/>
              <a:t>USER(</a:t>
            </a:r>
            <a:r>
              <a:rPr lang="en-IN" sz="1400" dirty="0" err="1"/>
              <a:t>User_ID</a:t>
            </a:r>
            <a:r>
              <a:rPr lang="en-IN" sz="1400" dirty="0"/>
              <a:t> PK, Name, Email, Phone, </a:t>
            </a:r>
            <a:r>
              <a:rPr lang="en-IN" sz="1400" dirty="0" err="1"/>
              <a:t>User_Type</a:t>
            </a:r>
            <a:r>
              <a:rPr lang="en-IN" sz="1400" dirty="0"/>
              <a:t>)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endParaRPr lang="en-IN" sz="1400" dirty="0"/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lang="en-IN" sz="1400" dirty="0"/>
              <a:t>AUTHOR(</a:t>
            </a:r>
            <a:r>
              <a:rPr lang="en-IN" sz="1400" dirty="0" err="1"/>
              <a:t>Author_ID</a:t>
            </a:r>
            <a:r>
              <a:rPr lang="en-IN" sz="1400" dirty="0"/>
              <a:t> PK, </a:t>
            </a:r>
            <a:r>
              <a:rPr lang="en-IN" sz="1400" dirty="0" err="1"/>
              <a:t>Author_Name</a:t>
            </a:r>
            <a:r>
              <a:rPr lang="en-IN" sz="1400" dirty="0"/>
              <a:t>, Biography)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endParaRPr lang="en-IN" sz="1400" dirty="0"/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lang="en-IN" sz="1400" dirty="0"/>
              <a:t>BOOK(</a:t>
            </a:r>
            <a:r>
              <a:rPr lang="en-IN" sz="1400" dirty="0" err="1"/>
              <a:t>Book_ID</a:t>
            </a:r>
            <a:r>
              <a:rPr lang="en-IN" sz="1400" dirty="0"/>
              <a:t> PK, Title, ISBN, Category, Publisher, </a:t>
            </a:r>
            <a:r>
              <a:rPr lang="en-IN" sz="1400" dirty="0" err="1"/>
              <a:t>Author_ID</a:t>
            </a:r>
            <a:r>
              <a:rPr lang="en-IN" sz="1400" dirty="0"/>
              <a:t> FK)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endParaRPr lang="en-IN" sz="1400" dirty="0"/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lang="en-IN" sz="1400" dirty="0"/>
              <a:t>BOOK_COPY(</a:t>
            </a:r>
            <a:r>
              <a:rPr lang="en-IN" sz="1400" dirty="0" err="1"/>
              <a:t>Copy_ID</a:t>
            </a:r>
            <a:r>
              <a:rPr lang="en-IN" sz="1400" dirty="0"/>
              <a:t> PK, </a:t>
            </a:r>
            <a:r>
              <a:rPr lang="en-IN" sz="1400" dirty="0" err="1"/>
              <a:t>Book_ID</a:t>
            </a:r>
            <a:r>
              <a:rPr lang="en-IN" sz="1400" dirty="0"/>
              <a:t> FK, </a:t>
            </a:r>
            <a:r>
              <a:rPr lang="en-IN" sz="1400" dirty="0" err="1"/>
              <a:t>Library_ID</a:t>
            </a:r>
            <a:r>
              <a:rPr lang="en-IN" sz="1400" dirty="0"/>
              <a:t> FK, </a:t>
            </a:r>
            <a:r>
              <a:rPr lang="en-IN" sz="1400" dirty="0" err="1"/>
              <a:t>Rack_ID</a:t>
            </a:r>
            <a:r>
              <a:rPr lang="en-IN" sz="1400" dirty="0"/>
              <a:t> FK, Status)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endParaRPr lang="en-IN" sz="1400" dirty="0"/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lang="en-IN" sz="1400" dirty="0"/>
              <a:t>LIBRARY(</a:t>
            </a:r>
            <a:r>
              <a:rPr lang="en-IN" sz="1400" dirty="0" err="1"/>
              <a:t>Library_ID</a:t>
            </a:r>
            <a:r>
              <a:rPr lang="en-IN" sz="1400" dirty="0"/>
              <a:t> PK, </a:t>
            </a:r>
            <a:r>
              <a:rPr lang="en-IN" sz="1400" dirty="0" err="1"/>
              <a:t>Library_Name</a:t>
            </a:r>
            <a:r>
              <a:rPr lang="en-IN" sz="1400" dirty="0"/>
              <a:t>, Location, Contact)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endParaRPr lang="en-IN" sz="1400" dirty="0"/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lang="en-IN" sz="1400" dirty="0"/>
              <a:t>RACK(</a:t>
            </a:r>
            <a:r>
              <a:rPr lang="en-IN" sz="1400" dirty="0" err="1"/>
              <a:t>Rack_ID</a:t>
            </a:r>
            <a:r>
              <a:rPr lang="en-IN" sz="1400" dirty="0"/>
              <a:t> PK, </a:t>
            </a:r>
            <a:r>
              <a:rPr lang="en-IN" sz="1400" dirty="0" err="1"/>
              <a:t>Library_ID</a:t>
            </a:r>
            <a:r>
              <a:rPr lang="en-IN" sz="1400" dirty="0"/>
              <a:t> FK, </a:t>
            </a:r>
            <a:r>
              <a:rPr lang="en-IN" sz="1400" dirty="0" err="1"/>
              <a:t>Rack_Number</a:t>
            </a:r>
            <a:r>
              <a:rPr lang="en-IN" sz="1400" dirty="0"/>
              <a:t>, Section)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endParaRPr lang="en-IN" sz="1400" dirty="0"/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lang="en-IN" sz="1400" dirty="0"/>
              <a:t>READING_TABLE(</a:t>
            </a:r>
            <a:r>
              <a:rPr lang="en-IN" sz="1400" dirty="0" err="1"/>
              <a:t>Table_ID</a:t>
            </a:r>
            <a:r>
              <a:rPr lang="en-IN" sz="1400" dirty="0"/>
              <a:t> PK, </a:t>
            </a:r>
            <a:r>
              <a:rPr lang="en-IN" sz="1400" dirty="0" err="1"/>
              <a:t>Library_ID</a:t>
            </a:r>
            <a:r>
              <a:rPr lang="en-IN" sz="1400" dirty="0"/>
              <a:t> FK, </a:t>
            </a:r>
            <a:r>
              <a:rPr lang="en-IN" sz="1400" dirty="0" err="1"/>
              <a:t>Table_Number</a:t>
            </a:r>
            <a:r>
              <a:rPr lang="en-IN" sz="1400" dirty="0"/>
              <a:t>, Capacity)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endParaRPr lang="en-IN" sz="1400" dirty="0"/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lang="en-IN" sz="1400" dirty="0"/>
              <a:t>BOOK_MOVEMENT(</a:t>
            </a:r>
            <a:r>
              <a:rPr lang="en-IN" sz="1400" dirty="0" err="1"/>
              <a:t>Movement_ID</a:t>
            </a:r>
            <a:r>
              <a:rPr lang="en-IN" sz="1400" dirty="0"/>
              <a:t> PK, </a:t>
            </a:r>
            <a:r>
              <a:rPr lang="en-IN" sz="1400" dirty="0" err="1"/>
              <a:t>Copy_ID</a:t>
            </a:r>
            <a:r>
              <a:rPr lang="en-IN" sz="1400" dirty="0"/>
              <a:t> FK, </a:t>
            </a:r>
            <a:r>
              <a:rPr lang="en-IN" sz="1400" dirty="0" err="1"/>
              <a:t>From_Rack_ID</a:t>
            </a:r>
            <a:r>
              <a:rPr lang="en-IN" sz="1400" dirty="0"/>
              <a:t> FK,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lang="en-IN" sz="1400" dirty="0"/>
              <a:t>              </a:t>
            </a:r>
            <a:r>
              <a:rPr lang="en-IN" sz="1400" dirty="0" err="1"/>
              <a:t>To_Rack_ID</a:t>
            </a:r>
            <a:r>
              <a:rPr lang="en-IN" sz="1400" dirty="0"/>
              <a:t> FK, </a:t>
            </a:r>
            <a:r>
              <a:rPr lang="en-IN" sz="1400" dirty="0" err="1"/>
              <a:t>Movement_Date</a:t>
            </a:r>
            <a:r>
              <a:rPr lang="en-IN" sz="1400" dirty="0"/>
              <a:t>)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endParaRPr lang="en-IN" sz="1400" dirty="0"/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lang="en-IN" sz="1400" dirty="0"/>
              <a:t>BORROW_TRANSACTION(</a:t>
            </a:r>
            <a:r>
              <a:rPr lang="en-IN" sz="1400" dirty="0" err="1"/>
              <a:t>Transaction_ID</a:t>
            </a:r>
            <a:r>
              <a:rPr lang="en-IN" sz="1400" dirty="0"/>
              <a:t> PK, </a:t>
            </a:r>
            <a:r>
              <a:rPr lang="en-IN" sz="1400" dirty="0" err="1"/>
              <a:t>User_ID</a:t>
            </a:r>
            <a:r>
              <a:rPr lang="en-IN" sz="1400" dirty="0"/>
              <a:t> FK, </a:t>
            </a:r>
            <a:r>
              <a:rPr lang="en-IN" sz="1400" dirty="0" err="1"/>
              <a:t>Copy_ID</a:t>
            </a:r>
            <a:r>
              <a:rPr lang="en-IN" sz="1400" dirty="0"/>
              <a:t> FK,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lang="en-IN" sz="1400" dirty="0"/>
              <a:t>                   </a:t>
            </a:r>
            <a:r>
              <a:rPr lang="en-IN" sz="1400" dirty="0" err="1"/>
              <a:t>Issue_Date</a:t>
            </a:r>
            <a:r>
              <a:rPr lang="en-IN" sz="1400" dirty="0"/>
              <a:t>, </a:t>
            </a:r>
            <a:r>
              <a:rPr lang="en-IN" sz="1400" dirty="0" err="1"/>
              <a:t>Due_Date</a:t>
            </a:r>
            <a:r>
              <a:rPr lang="en-IN" sz="1400" dirty="0"/>
              <a:t>, </a:t>
            </a:r>
            <a:r>
              <a:rPr lang="en-IN" sz="1400" dirty="0" err="1"/>
              <a:t>Return_Date</a:t>
            </a:r>
            <a:r>
              <a:rPr lang="en-IN" sz="1400" dirty="0"/>
              <a:t>)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endParaRPr lang="en-IN" sz="1400" dirty="0"/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lang="en-IN" sz="1400" dirty="0"/>
              <a:t>TRANSFER_REQUEST(</a:t>
            </a:r>
            <a:r>
              <a:rPr lang="en-IN" sz="1400" dirty="0" err="1"/>
              <a:t>Transfer_ID</a:t>
            </a:r>
            <a:r>
              <a:rPr lang="en-IN" sz="1400" dirty="0"/>
              <a:t> PK, </a:t>
            </a:r>
            <a:r>
              <a:rPr lang="en-IN" sz="1400" dirty="0" err="1"/>
              <a:t>Copy_ID</a:t>
            </a:r>
            <a:r>
              <a:rPr lang="en-IN" sz="1400" dirty="0"/>
              <a:t> FK, </a:t>
            </a:r>
            <a:r>
              <a:rPr lang="en-IN" sz="1400" dirty="0" err="1"/>
              <a:t>From_Library_ID</a:t>
            </a:r>
            <a:r>
              <a:rPr lang="en-IN" sz="1400" dirty="0"/>
              <a:t> FK,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lang="en-IN" sz="1400" dirty="0"/>
              <a:t>                 </a:t>
            </a:r>
            <a:r>
              <a:rPr lang="en-IN" sz="1400" dirty="0" err="1"/>
              <a:t>To_Library_ID</a:t>
            </a:r>
            <a:r>
              <a:rPr lang="en-IN" sz="1400" dirty="0"/>
              <a:t> FK, </a:t>
            </a:r>
            <a:r>
              <a:rPr lang="en-IN" sz="1400" dirty="0" err="1"/>
              <a:t>Request_Date</a:t>
            </a:r>
            <a:r>
              <a:rPr lang="en-IN" sz="1400" dirty="0"/>
              <a:t>, Status)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endParaRPr lang="en-IN" sz="1400" dirty="0"/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lang="en-IN" sz="1400" dirty="0"/>
              <a:t>NOTIFICATION(</a:t>
            </a:r>
            <a:r>
              <a:rPr lang="en-IN" sz="1400" dirty="0" err="1"/>
              <a:t>Notification_ID</a:t>
            </a:r>
            <a:r>
              <a:rPr lang="en-IN" sz="1400" dirty="0"/>
              <a:t> PK, </a:t>
            </a:r>
            <a:r>
              <a:rPr lang="en-IN" sz="1400" dirty="0" err="1"/>
              <a:t>User_ID</a:t>
            </a:r>
            <a:r>
              <a:rPr lang="en-IN" sz="1400" dirty="0"/>
              <a:t> FK, Message, Date, Status)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3283178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D1103-BED3-D0D1-2B32-DF462A49A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86A48A0-7630-F33A-9602-55A8C30FABC0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4D87CA1E-4756-F08E-63BD-75124D6360A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631FFF4E-3585-C131-4111-19552BFBD0ED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23462C3B-779A-ECC8-E6A0-EBE10897D9C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1C485986-3706-6533-B03D-5A8A8566EDE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C06018CA-58C0-7E2C-3046-85D5E75FDF5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48EE4812-0FE8-8F6E-37C0-C1D8649E38B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996B418-1692-861F-B2FC-D97A6A0DCECA}"/>
              </a:ext>
            </a:extLst>
          </p:cNvPr>
          <p:cNvSpPr txBox="1"/>
          <p:nvPr/>
        </p:nvSpPr>
        <p:spPr>
          <a:xfrm>
            <a:off x="1905000" y="329018"/>
            <a:ext cx="655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755"/>
                </a:solidFill>
              </a:defRPr>
            </a:pPr>
            <a:r>
              <a:t>PRIMARY &amp; FOREIGN KEYS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6E2F94-6AD4-B724-E3FB-997227B0055D}"/>
              </a:ext>
            </a:extLst>
          </p:cNvPr>
          <p:cNvSpPr txBox="1"/>
          <p:nvPr/>
        </p:nvSpPr>
        <p:spPr>
          <a:xfrm>
            <a:off x="2514600" y="3704102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" b="0">
                <a:solidFill>
                  <a:srgbClr val="232323"/>
                </a:solidFill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1234440"/>
            <a:ext cx="78486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000" dirty="0"/>
              <a:t>Primary Keys uniquely identify each record.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000" dirty="0"/>
              <a:t>Foreign Keys connect related tables.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endParaRPr sz="2000" dirty="0"/>
          </a:p>
          <a:p>
            <a:pPr>
              <a:spcAft>
                <a:spcPts val="500"/>
              </a:spcAft>
              <a:defRPr sz="1600" b="1">
                <a:solidFill>
                  <a:srgbClr val="1E3755"/>
                </a:solidFill>
              </a:defRPr>
            </a:pPr>
            <a:r>
              <a:rPr sz="2000" dirty="0"/>
              <a:t>Examples: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BOOK.book_id</a:t>
            </a:r>
            <a:r>
              <a:rPr sz="2000" dirty="0"/>
              <a:t> → PK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BOOK_COPY.copy_id</a:t>
            </a:r>
            <a:r>
              <a:rPr sz="2000" dirty="0"/>
              <a:t> → PK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BOOK_COPY.book_id</a:t>
            </a:r>
            <a:r>
              <a:rPr sz="2000" dirty="0"/>
              <a:t> → </a:t>
            </a:r>
            <a:r>
              <a:rPr sz="2000" dirty="0" err="1"/>
              <a:t>BOOK.book_id</a:t>
            </a:r>
            <a:r>
              <a:rPr sz="2000" dirty="0"/>
              <a:t> (FK)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BOOK_COPY.library_id</a:t>
            </a:r>
            <a:r>
              <a:rPr sz="2000" dirty="0"/>
              <a:t> → </a:t>
            </a:r>
            <a:r>
              <a:rPr sz="2000" dirty="0" err="1"/>
              <a:t>LIBRARY.library_id</a:t>
            </a:r>
            <a:r>
              <a:rPr sz="2000" dirty="0"/>
              <a:t> (FK)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RACK.library_id</a:t>
            </a:r>
            <a:r>
              <a:rPr sz="2000" dirty="0"/>
              <a:t> → </a:t>
            </a:r>
            <a:r>
              <a:rPr sz="2000" dirty="0" err="1"/>
              <a:t>LIBRARY.library_id</a:t>
            </a:r>
            <a:r>
              <a:rPr sz="2000" dirty="0"/>
              <a:t> (FK)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BORROW_TRANSACTION.copy_id</a:t>
            </a:r>
            <a:r>
              <a:rPr sz="2000" dirty="0"/>
              <a:t> → </a:t>
            </a:r>
            <a:r>
              <a:rPr sz="2000" dirty="0" err="1"/>
              <a:t>BOOK_COPY.copy_id</a:t>
            </a:r>
            <a:r>
              <a:rPr sz="2000" dirty="0"/>
              <a:t> (FK)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BORROW_TRANSACTION.user_id</a:t>
            </a:r>
            <a:r>
              <a:rPr sz="2000" dirty="0"/>
              <a:t> → </a:t>
            </a:r>
            <a:r>
              <a:rPr sz="2000" dirty="0" err="1"/>
              <a:t>USER.user_id</a:t>
            </a:r>
            <a:r>
              <a:rPr sz="2000" dirty="0"/>
              <a:t> (FK)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endParaRPr sz="2000" dirty="0"/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000" dirty="0"/>
              <a:t>These relationships maintain referential integrity.</a:t>
            </a:r>
          </a:p>
        </p:txBody>
      </p:sp>
    </p:spTree>
    <p:extLst>
      <p:ext uri="{BB962C8B-B14F-4D97-AF65-F5344CB8AC3E}">
        <p14:creationId xmlns:p14="http://schemas.microsoft.com/office/powerpoint/2010/main" val="1510185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2287496" y="320752"/>
            <a:ext cx="5942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755"/>
                </a:solidFill>
              </a:defRPr>
            </a:pPr>
            <a:r>
              <a:rPr dirty="0"/>
              <a:t>GITHUB REPOSITORY &amp; TEAM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1749471" y="2362200"/>
            <a:ext cx="6781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" b="0">
                <a:solidFill>
                  <a:srgbClr val="232323"/>
                </a:solidFill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6851" y="1528102"/>
            <a:ext cx="7924800" cy="4490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E3755"/>
                </a:solidFill>
              </a:defRPr>
            </a:pPr>
            <a:r>
              <a:rPr sz="2000" dirty="0"/>
              <a:t>Team responsibilities: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000" dirty="0"/>
              <a:t>• D. Srinivas — </a:t>
            </a:r>
            <a:r>
              <a:rPr lang="en-US" sz="2000" dirty="0"/>
              <a:t> </a:t>
            </a:r>
            <a:r>
              <a:rPr lang="en-IN" sz="2000" dirty="0"/>
              <a:t> Frontend / Testing &amp; Documentation </a:t>
            </a:r>
            <a:endParaRPr sz="2000" dirty="0"/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000" dirty="0"/>
              <a:t>• Ch. Sashank — Backend / SQL Implementation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000" dirty="0"/>
              <a:t>• T. Praveen —</a:t>
            </a:r>
            <a:r>
              <a:rPr lang="en-US" sz="2000" dirty="0"/>
              <a:t>  </a:t>
            </a:r>
            <a:r>
              <a:rPr lang="en-IN" sz="2000" dirty="0"/>
              <a:t>Database / ER Design</a:t>
            </a:r>
            <a:endParaRPr sz="2000" dirty="0"/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endParaRPr sz="2000" dirty="0"/>
          </a:p>
          <a:p>
            <a:pPr>
              <a:spcAft>
                <a:spcPts val="500"/>
              </a:spcAft>
              <a:defRPr sz="1600" b="1">
                <a:solidFill>
                  <a:srgbClr val="1E3755"/>
                </a:solidFill>
              </a:defRPr>
            </a:pPr>
            <a:r>
              <a:rPr sz="2000" dirty="0"/>
              <a:t>Repository contents: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000" dirty="0"/>
              <a:t>• SQL schema and sample data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000" dirty="0"/>
              <a:t>• ER diagram and relational schema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000" dirty="0"/>
              <a:t>• SQL queries and screenshots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000" dirty="0"/>
              <a:t>• Project documentation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endParaRPr sz="2000" dirty="0"/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000" dirty="0"/>
              <a:t>Repository Link: 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3081486" y="-78137"/>
            <a:ext cx="4570504" cy="1283319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2503877" y="252468"/>
            <a:ext cx="5725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755"/>
                </a:solidFill>
              </a:defRPr>
            </a:pPr>
            <a:r>
              <a:rPr dirty="0"/>
              <a:t>DATABASE &amp; CONSTRAINTS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761999" y="951046"/>
            <a:ext cx="4648201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400" dirty="0"/>
              <a:t>CREATE DATABASE </a:t>
            </a:r>
            <a:r>
              <a:rPr lang="en-IN" sz="1400" dirty="0" err="1"/>
              <a:t>LibraryManagement</a:t>
            </a:r>
            <a:r>
              <a:rPr lang="en-IN" sz="1400" dirty="0"/>
              <a:t>;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400" dirty="0"/>
              <a:t>USE </a:t>
            </a:r>
            <a:r>
              <a:rPr lang="en-IN" sz="1400" dirty="0" err="1"/>
              <a:t>LibraryManagement</a:t>
            </a:r>
            <a:r>
              <a:rPr lang="en-IN" sz="1400" dirty="0"/>
              <a:t>;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endParaRPr lang="en-IN" sz="1400" dirty="0"/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400" dirty="0"/>
              <a:t>CREATE TABLE USER (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400" dirty="0"/>
              <a:t>    </a:t>
            </a:r>
            <a:r>
              <a:rPr lang="en-IN" sz="1400" dirty="0" err="1"/>
              <a:t>User_ID</a:t>
            </a:r>
            <a:r>
              <a:rPr lang="en-IN" sz="1400" dirty="0"/>
              <a:t> INT PRIMARY KEY,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400" dirty="0"/>
              <a:t>    Name VARCHAR(50) NOT NULL,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400" dirty="0"/>
              <a:t>    Email VARCHAR(100) UNIQUE,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400" dirty="0"/>
              <a:t>    Phone VARCHAR(15) UNIQUE,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400" dirty="0"/>
              <a:t>    </a:t>
            </a:r>
            <a:r>
              <a:rPr lang="en-IN" sz="1400" dirty="0" err="1"/>
              <a:t>User_Type</a:t>
            </a:r>
            <a:r>
              <a:rPr lang="en-IN" sz="1400" dirty="0"/>
              <a:t> VARCHAR(20) DEFAULT 'Student',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400" dirty="0"/>
              <a:t>    CHECK (</a:t>
            </a:r>
            <a:r>
              <a:rPr lang="en-IN" sz="1400" dirty="0" err="1"/>
              <a:t>User_Type</a:t>
            </a:r>
            <a:r>
              <a:rPr lang="en-IN" sz="1400" dirty="0"/>
              <a:t> IN ('Student', 'Faculty', 'Staff'))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400" dirty="0"/>
              <a:t>);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endParaRPr lang="en-IN" sz="1400" dirty="0"/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400" dirty="0"/>
              <a:t>CREATE TABLE BOOK (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400" dirty="0"/>
              <a:t>    </a:t>
            </a:r>
            <a:r>
              <a:rPr lang="en-IN" sz="1400" dirty="0" err="1"/>
              <a:t>Book_ID</a:t>
            </a:r>
            <a:r>
              <a:rPr lang="en-IN" sz="1400" dirty="0"/>
              <a:t> INT PRIMARY KEY,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400" dirty="0"/>
              <a:t>    Title VARCHAR(100) NOT NULL,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400" dirty="0"/>
              <a:t>    ISBN VARCHAR(20) UNIQUE,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400" dirty="0"/>
              <a:t>    Category VARCHAR(50) NOT NULL,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400" dirty="0"/>
              <a:t>    Publisher VARCHAR(100)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400" dirty="0"/>
              <a:t>);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endParaRPr lang="en-IN" sz="1400" dirty="0"/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400" dirty="0"/>
              <a:t>CREATE TABLE LIBRARY (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400" dirty="0"/>
              <a:t>    </a:t>
            </a:r>
            <a:r>
              <a:rPr lang="en-IN" sz="1400" dirty="0" err="1"/>
              <a:t>Library_ID</a:t>
            </a:r>
            <a:r>
              <a:rPr lang="en-IN" sz="1400" dirty="0"/>
              <a:t> INT PRIMARY KEY,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400" dirty="0"/>
              <a:t>    </a:t>
            </a:r>
            <a:r>
              <a:rPr lang="en-IN" sz="1400" dirty="0" err="1"/>
              <a:t>Library_Name</a:t>
            </a:r>
            <a:r>
              <a:rPr lang="en-IN" sz="1400" dirty="0"/>
              <a:t> VARCHAR(100) NOT NULL UNIQUE,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400" dirty="0"/>
              <a:t>    Location VARCHAR(100) NOT NULL,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400" dirty="0"/>
              <a:t>    Contact VARCHAR(15) UNIQUE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400" dirty="0"/>
              <a:t>);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endParaRPr lang="en-IN" sz="1400" dirty="0"/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400" dirty="0"/>
              <a:t>);5</a:t>
            </a:r>
            <a:endParaRPr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53D4BA-F6A9-A337-CA91-EF4926864A62}"/>
              </a:ext>
            </a:extLst>
          </p:cNvPr>
          <p:cNvSpPr txBox="1"/>
          <p:nvPr/>
        </p:nvSpPr>
        <p:spPr>
          <a:xfrm>
            <a:off x="5782971" y="954959"/>
            <a:ext cx="3970629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600" dirty="0"/>
              <a:t>CREATE TABLE RACK (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600" dirty="0"/>
              <a:t>    </a:t>
            </a:r>
            <a:r>
              <a:rPr lang="en-IN" sz="1600" dirty="0" err="1"/>
              <a:t>Rack_ID</a:t>
            </a:r>
            <a:r>
              <a:rPr lang="en-IN" sz="1600" dirty="0"/>
              <a:t> INT PRIMARY KEY,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600" dirty="0"/>
              <a:t>    </a:t>
            </a:r>
            <a:r>
              <a:rPr lang="en-IN" sz="1600" dirty="0" err="1"/>
              <a:t>Library_ID</a:t>
            </a:r>
            <a:r>
              <a:rPr lang="en-IN" sz="1600" dirty="0"/>
              <a:t> INT NOT NULL,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600" dirty="0"/>
              <a:t>    </a:t>
            </a:r>
            <a:r>
              <a:rPr lang="en-IN" sz="1600" dirty="0" err="1"/>
              <a:t>Rack_Number</a:t>
            </a:r>
            <a:r>
              <a:rPr lang="en-IN" sz="1600" dirty="0"/>
              <a:t> INT NOT NULL,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600" dirty="0"/>
              <a:t>    Section VARCHAR(50) DEFAULT 'General',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600" dirty="0"/>
              <a:t>    CHECK (</a:t>
            </a:r>
            <a:r>
              <a:rPr lang="en-IN" sz="1600" dirty="0" err="1"/>
              <a:t>Rack_Number</a:t>
            </a:r>
            <a:r>
              <a:rPr lang="en-IN" sz="1600" dirty="0"/>
              <a:t> &gt; 0),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600" dirty="0"/>
              <a:t>    FOREIGN KEY (</a:t>
            </a:r>
            <a:r>
              <a:rPr lang="en-IN" sz="1600" dirty="0" err="1"/>
              <a:t>Library_ID</a:t>
            </a:r>
            <a:r>
              <a:rPr lang="en-IN" sz="1600" dirty="0"/>
              <a:t>) REFERENCES LIBRARY(</a:t>
            </a:r>
            <a:r>
              <a:rPr lang="en-IN" sz="1600" dirty="0" err="1"/>
              <a:t>Library_ID</a:t>
            </a:r>
            <a:r>
              <a:rPr lang="en-IN" sz="1600" dirty="0"/>
              <a:t>)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600" dirty="0"/>
              <a:t>);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endParaRPr lang="en-IN" sz="1600" dirty="0"/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600" dirty="0"/>
              <a:t>CREATE TABLE BOOK_COPY (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600" dirty="0"/>
              <a:t>    </a:t>
            </a:r>
            <a:r>
              <a:rPr lang="en-IN" sz="1600" dirty="0" err="1"/>
              <a:t>Copy_ID</a:t>
            </a:r>
            <a:r>
              <a:rPr lang="en-IN" sz="1600" dirty="0"/>
              <a:t> INT PRIMARY </a:t>
            </a:r>
            <a:r>
              <a:rPr lang="en-IN" sz="1400" dirty="0"/>
              <a:t>KEY</a:t>
            </a:r>
            <a:r>
              <a:rPr lang="en-IN" sz="1600" dirty="0"/>
              <a:t>,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600" dirty="0"/>
              <a:t>    </a:t>
            </a:r>
            <a:r>
              <a:rPr lang="en-IN" sz="1600" dirty="0" err="1"/>
              <a:t>Book_ID</a:t>
            </a:r>
            <a:r>
              <a:rPr lang="en-IN" sz="1600" dirty="0"/>
              <a:t> INT NOT NULL,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600" dirty="0"/>
              <a:t>    </a:t>
            </a:r>
            <a:r>
              <a:rPr lang="en-IN" sz="1600" dirty="0" err="1"/>
              <a:t>Library_ID</a:t>
            </a:r>
            <a:r>
              <a:rPr lang="en-IN" sz="1600" dirty="0"/>
              <a:t> INT NOT NULL,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600" dirty="0"/>
              <a:t>    </a:t>
            </a:r>
            <a:r>
              <a:rPr lang="en-IN" sz="1600" dirty="0" err="1"/>
              <a:t>Rack_ID</a:t>
            </a:r>
            <a:r>
              <a:rPr lang="en-IN" sz="1600" dirty="0"/>
              <a:t> INT,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600" dirty="0"/>
              <a:t>    Status VARCHAR(20) DEFAULT 'Available',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600" dirty="0"/>
              <a:t>    CHECK (Status IN ('Available', 'Issued', 'Lost', 'Damaged')),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600" dirty="0"/>
              <a:t>    FOREIGN KEY (</a:t>
            </a:r>
            <a:r>
              <a:rPr lang="en-IN" sz="1600" dirty="0" err="1"/>
              <a:t>Book_ID</a:t>
            </a:r>
            <a:r>
              <a:rPr lang="en-IN" sz="1600" dirty="0"/>
              <a:t>) REFERENCES BOOK(</a:t>
            </a:r>
            <a:r>
              <a:rPr lang="en-IN" sz="1600" dirty="0" err="1"/>
              <a:t>Book_ID</a:t>
            </a:r>
            <a:r>
              <a:rPr lang="en-IN" sz="1600" dirty="0"/>
              <a:t>),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600" dirty="0"/>
              <a:t>    FOREIGN KEY (</a:t>
            </a:r>
            <a:r>
              <a:rPr lang="en-IN" sz="1600" dirty="0" err="1"/>
              <a:t>Library_ID</a:t>
            </a:r>
            <a:r>
              <a:rPr lang="en-IN" sz="1600" dirty="0"/>
              <a:t>) REFERENCES LIBRARY(</a:t>
            </a:r>
            <a:r>
              <a:rPr lang="en-IN" sz="1600" dirty="0" err="1"/>
              <a:t>Library_ID</a:t>
            </a:r>
            <a:r>
              <a:rPr lang="en-IN" sz="1600" dirty="0"/>
              <a:t>),</a:t>
            </a:r>
          </a:p>
          <a:p>
            <a:pPr>
              <a:defRPr sz="100" b="0">
                <a:solidFill>
                  <a:srgbClr val="232323"/>
                </a:solidFill>
              </a:defRPr>
            </a:pPr>
            <a:r>
              <a:rPr lang="en-IN" sz="1600" dirty="0"/>
              <a:t>    FOREIGN KEY (</a:t>
            </a:r>
            <a:r>
              <a:rPr lang="en-IN" sz="1600" dirty="0" err="1"/>
              <a:t>Rack_ID</a:t>
            </a:r>
            <a:r>
              <a:rPr lang="en-IN" sz="1600" dirty="0"/>
              <a:t>) REFERENCES RACK(</a:t>
            </a:r>
            <a:r>
              <a:rPr lang="en-IN" sz="1600" dirty="0" err="1"/>
              <a:t>Rack_ID</a:t>
            </a:r>
            <a:r>
              <a:rPr lang="en-IN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2338626" y="320752"/>
            <a:ext cx="5890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755"/>
                </a:solidFill>
              </a:defRPr>
            </a:pPr>
            <a:r>
              <a:rPr dirty="0"/>
              <a:t>SAMPLE DATA INSERTION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1749471" y="2362200"/>
            <a:ext cx="6781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" b="0">
                <a:solidFill>
                  <a:srgbClr val="232323"/>
                </a:solidFill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399" y="1234440"/>
            <a:ext cx="8763001" cy="4796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400" dirty="0"/>
              <a:t>Sample data is inserted into the main tables for testing.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endParaRPr sz="2400" dirty="0"/>
          </a:p>
          <a:p>
            <a:pPr>
              <a:spcAft>
                <a:spcPts val="500"/>
              </a:spcAft>
              <a:defRPr sz="1600" b="1">
                <a:solidFill>
                  <a:srgbClr val="1E3755"/>
                </a:solidFill>
              </a:defRPr>
            </a:pPr>
            <a:r>
              <a:rPr sz="2400" dirty="0"/>
              <a:t>Examples: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400" dirty="0"/>
              <a:t>• Authors: James Clear, Yuval Noah Harari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400" dirty="0"/>
              <a:t>• Books: Atomic Habits, Sapiens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400" dirty="0"/>
              <a:t>• Libraries: Library A, Library B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400" dirty="0"/>
              <a:t>• Copies: BC-1023, BC-1024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400" dirty="0"/>
              <a:t>• Users: User-101, User-102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400" dirty="0"/>
              <a:t>• Borrow transactions with issue/due/return dates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endParaRPr sz="2400" dirty="0"/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400" dirty="0"/>
              <a:t>This data is used for queries, joins, reports and validation.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2338626" y="320752"/>
            <a:ext cx="5890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755"/>
                </a:solidFill>
              </a:defRPr>
            </a:pPr>
            <a:r>
              <a:t>DDL, DML &amp; DQL OPERATIONS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1749471" y="2362200"/>
            <a:ext cx="6781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" b="0">
                <a:solidFill>
                  <a:srgbClr val="232323"/>
                </a:solidFill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2400" y="1234440"/>
            <a:ext cx="8808720" cy="6286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sz="2000" dirty="0"/>
              <a:t>DDL — database structure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sz="2000" dirty="0"/>
              <a:t>• CREATE DATABASE / TABLE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sz="2000" dirty="0"/>
              <a:t>• ALTER TABLE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endParaRPr sz="2000" dirty="0"/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sz="2000" dirty="0"/>
              <a:t>DML — data manipulation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sz="2000" dirty="0"/>
              <a:t>• INSERT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sz="2000" dirty="0"/>
              <a:t>• UPDATE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sz="2000" dirty="0"/>
              <a:t>• DELETE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endParaRPr sz="2000" dirty="0"/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sz="2000" dirty="0"/>
              <a:t>DQL — data retrieval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sz="2000" dirty="0"/>
              <a:t>• SELECT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sz="2000" dirty="0"/>
              <a:t>• WHERE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sz="2000" dirty="0"/>
              <a:t>• ORDER BY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sz="2000" dirty="0"/>
              <a:t>• GROUP BY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endParaRPr sz="2000" dirty="0"/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sz="2000" dirty="0"/>
              <a:t>These operations create the structure, manage records and retrieve required information.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12373" y="1889110"/>
            <a:ext cx="5259917" cy="4510102"/>
          </a:xfrm>
          <a:prstGeom prst="roundRect">
            <a:avLst/>
          </a:prstGeom>
          <a:solidFill>
            <a:srgbClr val="F5F7F9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900">
                <a:solidFill>
                  <a:srgbClr val="1E2832"/>
                </a:solidFill>
                <a:latin typeface="Consolas"/>
              </a:defRPr>
            </a:pPr>
            <a:r>
              <a:rPr sz="2400" dirty="0"/>
              <a:t>SELECT </a:t>
            </a:r>
            <a:r>
              <a:rPr sz="2400" dirty="0" err="1"/>
              <a:t>b.title</a:t>
            </a:r>
            <a:r>
              <a:rPr sz="2400" dirty="0"/>
              <a:t>,</a:t>
            </a:r>
          </a:p>
          <a:p>
            <a:pPr>
              <a:spcAft>
                <a:spcPts val="200"/>
              </a:spcAft>
              <a:defRPr sz="900">
                <a:solidFill>
                  <a:srgbClr val="1E2832"/>
                </a:solidFill>
                <a:latin typeface="Consolas"/>
              </a:defRPr>
            </a:pPr>
            <a:r>
              <a:rPr sz="2400" dirty="0"/>
              <a:t>       </a:t>
            </a:r>
            <a:r>
              <a:rPr sz="2400" dirty="0" err="1"/>
              <a:t>l.library_name</a:t>
            </a:r>
            <a:endParaRPr sz="2400" dirty="0"/>
          </a:p>
          <a:p>
            <a:pPr>
              <a:spcAft>
                <a:spcPts val="200"/>
              </a:spcAft>
              <a:defRPr sz="900">
                <a:solidFill>
                  <a:srgbClr val="1E2832"/>
                </a:solidFill>
                <a:latin typeface="Consolas"/>
              </a:defRPr>
            </a:pPr>
            <a:r>
              <a:rPr sz="2400" dirty="0"/>
              <a:t>FROM BOOK b</a:t>
            </a:r>
          </a:p>
          <a:p>
            <a:pPr>
              <a:spcAft>
                <a:spcPts val="200"/>
              </a:spcAft>
              <a:defRPr sz="900">
                <a:solidFill>
                  <a:srgbClr val="1E2832"/>
                </a:solidFill>
                <a:latin typeface="Consolas"/>
              </a:defRPr>
            </a:pPr>
            <a:r>
              <a:rPr sz="2400" dirty="0"/>
              <a:t>JOIN BOOK_COPY </a:t>
            </a:r>
            <a:r>
              <a:rPr sz="2400" dirty="0" err="1"/>
              <a:t>bc</a:t>
            </a:r>
            <a:endParaRPr sz="2400" dirty="0"/>
          </a:p>
          <a:p>
            <a:pPr>
              <a:spcAft>
                <a:spcPts val="200"/>
              </a:spcAft>
              <a:defRPr sz="900">
                <a:solidFill>
                  <a:srgbClr val="1E2832"/>
                </a:solidFill>
                <a:latin typeface="Consolas"/>
              </a:defRPr>
            </a:pPr>
            <a:r>
              <a:rPr sz="2400" dirty="0"/>
              <a:t> ON </a:t>
            </a:r>
            <a:r>
              <a:rPr sz="2400" dirty="0" err="1"/>
              <a:t>b.book_id</a:t>
            </a:r>
            <a:r>
              <a:rPr sz="2400" dirty="0"/>
              <a:t>=</a:t>
            </a:r>
            <a:r>
              <a:rPr sz="2400" dirty="0" err="1"/>
              <a:t>bc.book_id</a:t>
            </a:r>
            <a:endParaRPr sz="2400" dirty="0"/>
          </a:p>
          <a:p>
            <a:pPr>
              <a:spcAft>
                <a:spcPts val="200"/>
              </a:spcAft>
              <a:defRPr sz="900">
                <a:solidFill>
                  <a:srgbClr val="1E2832"/>
                </a:solidFill>
                <a:latin typeface="Consolas"/>
              </a:defRPr>
            </a:pPr>
            <a:r>
              <a:rPr sz="2400" dirty="0"/>
              <a:t>JOIN LIBRARY l</a:t>
            </a:r>
          </a:p>
          <a:p>
            <a:pPr>
              <a:spcAft>
                <a:spcPts val="200"/>
              </a:spcAft>
              <a:defRPr sz="900">
                <a:solidFill>
                  <a:srgbClr val="1E2832"/>
                </a:solidFill>
                <a:latin typeface="Consolas"/>
              </a:defRPr>
            </a:pPr>
            <a:r>
              <a:rPr sz="2400" dirty="0"/>
              <a:t> ON </a:t>
            </a:r>
            <a:r>
              <a:rPr sz="2400" dirty="0" err="1"/>
              <a:t>bc.library_id</a:t>
            </a:r>
            <a:r>
              <a:rPr sz="2400" dirty="0"/>
              <a:t>=</a:t>
            </a:r>
            <a:r>
              <a:rPr sz="2400" dirty="0" err="1"/>
              <a:t>l.library_id</a:t>
            </a:r>
            <a:endParaRPr sz="2400" dirty="0"/>
          </a:p>
          <a:p>
            <a:pPr>
              <a:spcAft>
                <a:spcPts val="200"/>
              </a:spcAft>
              <a:defRPr sz="900">
                <a:solidFill>
                  <a:srgbClr val="1E2832"/>
                </a:solidFill>
                <a:latin typeface="Consolas"/>
              </a:defRPr>
            </a:pPr>
            <a:r>
              <a:rPr sz="2400" dirty="0"/>
              <a:t>WHERE </a:t>
            </a:r>
            <a:r>
              <a:rPr sz="2400" dirty="0" err="1"/>
              <a:t>bc.status</a:t>
            </a:r>
            <a:r>
              <a:rPr sz="2400" dirty="0"/>
              <a:t>='Available';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1981200" y="321324"/>
            <a:ext cx="624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755"/>
                </a:solidFill>
              </a:defRPr>
            </a:pPr>
            <a:r>
              <a:rPr dirty="0"/>
              <a:t>CRUD &amp; SQL QUERIES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1749471" y="2362200"/>
            <a:ext cx="6781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" b="0">
                <a:solidFill>
                  <a:srgbClr val="232323"/>
                </a:solidFill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0750" y="1234439"/>
            <a:ext cx="8670370" cy="4119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E3755"/>
                </a:solidFill>
              </a:defRPr>
            </a:pPr>
            <a:r>
              <a:rPr sz="2000" dirty="0"/>
              <a:t>CRUD: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sz="2000" dirty="0"/>
              <a:t>• CREATE → INSERT a new user/book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sz="2000" dirty="0"/>
              <a:t>• READ → SELECT available books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sz="2000" dirty="0"/>
              <a:t>• UPDATE → change copy status/location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sz="2000" dirty="0"/>
              <a:t>• DELETE → remove a test record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endParaRPr sz="2000" dirty="0"/>
          </a:p>
          <a:p>
            <a:pPr>
              <a:spcAft>
                <a:spcPts val="500"/>
              </a:spcAft>
              <a:defRPr sz="1400" b="1">
                <a:solidFill>
                  <a:srgbClr val="1E3755"/>
                </a:solidFill>
              </a:defRPr>
            </a:pPr>
            <a:r>
              <a:rPr sz="2000" dirty="0"/>
              <a:t>Other SQL features: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sz="2000" dirty="0"/>
              <a:t>• JOINs for related tables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sz="2000" dirty="0"/>
              <a:t>• COUNT / SUM / AVG for reports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sz="2000" dirty="0"/>
              <a:t>• VIEW for reusable results</a:t>
            </a:r>
          </a:p>
          <a:p>
            <a:pPr>
              <a:spcAft>
                <a:spcPts val="500"/>
              </a:spcAft>
              <a:defRPr sz="1400">
                <a:solidFill>
                  <a:srgbClr val="232323"/>
                </a:solidFill>
              </a:defRPr>
            </a:pPr>
            <a:r>
              <a:rPr sz="2000" dirty="0"/>
              <a:t>• WHERE, GROUP BY, HAVING and ORDER BY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519635"/>
            <a:ext cx="3886200" cy="4119076"/>
          </a:xfrm>
          <a:prstGeom prst="roundRect">
            <a:avLst/>
          </a:prstGeom>
          <a:solidFill>
            <a:srgbClr val="F5F7F9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200"/>
              </a:spcAft>
              <a:defRPr sz="900">
                <a:solidFill>
                  <a:srgbClr val="1E2832"/>
                </a:solidFill>
                <a:latin typeface="Consolas"/>
              </a:defRPr>
            </a:pPr>
            <a:r>
              <a:rPr sz="1600" dirty="0"/>
              <a:t>SELECT </a:t>
            </a:r>
            <a:r>
              <a:rPr sz="1600" dirty="0" err="1"/>
              <a:t>library_id</a:t>
            </a:r>
            <a:r>
              <a:rPr sz="1600" dirty="0"/>
              <a:t>,</a:t>
            </a:r>
          </a:p>
          <a:p>
            <a:pPr>
              <a:spcAft>
                <a:spcPts val="200"/>
              </a:spcAft>
              <a:defRPr sz="900">
                <a:solidFill>
                  <a:srgbClr val="1E2832"/>
                </a:solidFill>
                <a:latin typeface="Consolas"/>
              </a:defRPr>
            </a:pPr>
            <a:r>
              <a:rPr sz="1600" dirty="0"/>
              <a:t>       COUNT(*) AS copies</a:t>
            </a:r>
          </a:p>
          <a:p>
            <a:pPr>
              <a:spcAft>
                <a:spcPts val="200"/>
              </a:spcAft>
              <a:defRPr sz="900">
                <a:solidFill>
                  <a:srgbClr val="1E2832"/>
                </a:solidFill>
                <a:latin typeface="Consolas"/>
              </a:defRPr>
            </a:pPr>
            <a:r>
              <a:rPr sz="1600" dirty="0"/>
              <a:t>FROM BOOK_COPY</a:t>
            </a:r>
          </a:p>
          <a:p>
            <a:pPr>
              <a:spcAft>
                <a:spcPts val="200"/>
              </a:spcAft>
              <a:defRPr sz="900">
                <a:solidFill>
                  <a:srgbClr val="1E2832"/>
                </a:solidFill>
                <a:latin typeface="Consolas"/>
              </a:defRPr>
            </a:pPr>
            <a:r>
              <a:rPr sz="1600" dirty="0"/>
              <a:t>GROUP BY </a:t>
            </a:r>
            <a:r>
              <a:rPr sz="1600" dirty="0" err="1"/>
              <a:t>library_id</a:t>
            </a:r>
            <a:r>
              <a:rPr sz="1600" dirty="0"/>
              <a:t>;</a:t>
            </a:r>
          </a:p>
          <a:p>
            <a:pPr>
              <a:spcAft>
                <a:spcPts val="200"/>
              </a:spcAft>
              <a:defRPr sz="900">
                <a:solidFill>
                  <a:srgbClr val="1E2832"/>
                </a:solidFill>
                <a:latin typeface="Consolas"/>
              </a:defRPr>
            </a:pPr>
            <a:endParaRPr sz="1600" dirty="0"/>
          </a:p>
          <a:p>
            <a:pPr>
              <a:spcAft>
                <a:spcPts val="200"/>
              </a:spcAft>
              <a:defRPr sz="900">
                <a:solidFill>
                  <a:srgbClr val="1E2832"/>
                </a:solidFill>
                <a:latin typeface="Consolas"/>
              </a:defRPr>
            </a:pPr>
            <a:r>
              <a:rPr sz="1600" dirty="0"/>
              <a:t>CREATE VIEW </a:t>
            </a:r>
            <a:r>
              <a:rPr sz="1600" dirty="0" err="1"/>
              <a:t>available_books</a:t>
            </a:r>
            <a:r>
              <a:rPr sz="1600" dirty="0"/>
              <a:t> AS</a:t>
            </a:r>
          </a:p>
          <a:p>
            <a:pPr>
              <a:spcAft>
                <a:spcPts val="200"/>
              </a:spcAft>
              <a:defRPr sz="900">
                <a:solidFill>
                  <a:srgbClr val="1E2832"/>
                </a:solidFill>
                <a:latin typeface="Consolas"/>
              </a:defRPr>
            </a:pPr>
            <a:r>
              <a:rPr sz="1600" dirty="0"/>
              <a:t>SELECT * FROM BOOK_COPY</a:t>
            </a:r>
          </a:p>
          <a:p>
            <a:pPr>
              <a:spcAft>
                <a:spcPts val="200"/>
              </a:spcAft>
              <a:defRPr sz="900">
                <a:solidFill>
                  <a:srgbClr val="1E2832"/>
                </a:solidFill>
                <a:latin typeface="Consolas"/>
              </a:defRPr>
            </a:pPr>
            <a:r>
              <a:rPr sz="1600" dirty="0"/>
              <a:t>WHERE status='Available';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0"/>
            <a:ext cx="5103904" cy="1283319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2287496" y="289402"/>
            <a:ext cx="5942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755"/>
                </a:solidFill>
              </a:defRPr>
            </a:pPr>
            <a:r>
              <a:rPr dirty="0"/>
              <a:t>DATA INTEGRITY &amp; VALIDATION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1749471" y="2362200"/>
            <a:ext cx="6781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" b="0">
                <a:solidFill>
                  <a:srgbClr val="232323"/>
                </a:solidFill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1234440"/>
            <a:ext cx="8046720" cy="429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E3755"/>
                </a:solidFill>
              </a:defRPr>
            </a:pPr>
            <a:r>
              <a:rPr sz="2400" dirty="0"/>
              <a:t>Validation checks: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400" dirty="0"/>
              <a:t>• No duplicate primary IDs.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400" dirty="0"/>
              <a:t>• Barcode values remain unique.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400" dirty="0"/>
              <a:t>• Required fields cannot be NULL.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400" dirty="0"/>
              <a:t>• Foreign keys must reference existing records.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400" dirty="0"/>
              <a:t>• Status and date values are validated.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400" dirty="0"/>
              <a:t>• Invalid records are rejected by constraints.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endParaRPr sz="2400" dirty="0"/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400" dirty="0"/>
              <a:t>Example: BOOK_COPY cannot reference a non-existing BOOK or LIBRARY.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2514600" y="375555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755"/>
                </a:solidFill>
              </a:defRPr>
            </a:pPr>
            <a:r>
              <a:rPr dirty="0"/>
              <a:t>PROJECT DOCUMENTATION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1749471" y="2362200"/>
            <a:ext cx="6781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" b="0">
                <a:solidFill>
                  <a:srgbClr val="232323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1905000" y="320752"/>
            <a:ext cx="632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3755"/>
                </a:solidFill>
              </a:defRPr>
            </a:pPr>
            <a:r>
              <a:rPr dirty="0"/>
              <a:t>DEMONSTRATE &amp; PRESENT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800D15-2389-5516-DA9E-AC441973A9C8}"/>
              </a:ext>
            </a:extLst>
          </p:cNvPr>
          <p:cNvSpPr txBox="1"/>
          <p:nvPr/>
        </p:nvSpPr>
        <p:spPr>
          <a:xfrm>
            <a:off x="1749471" y="2362200"/>
            <a:ext cx="6781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" b="0">
                <a:solidFill>
                  <a:srgbClr val="232323"/>
                </a:solidFill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1234440"/>
            <a:ext cx="8229600" cy="4732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E3755"/>
                </a:solidFill>
              </a:defRPr>
            </a:pPr>
            <a:r>
              <a:rPr sz="2400" dirty="0"/>
              <a:t>Demonstration flow: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400" dirty="0"/>
              <a:t>1. Open the Library Management database.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400" dirty="0"/>
              <a:t>2. Show tables and constraints.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400" dirty="0"/>
              <a:t>3. Insert and view sample records.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400" dirty="0"/>
              <a:t>4. Run SELECT and JOIN queries.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400" dirty="0"/>
              <a:t>5. Demonstrate CRUD operations.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400" dirty="0"/>
              <a:t>6. Show aggregate query / view output.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400" dirty="0"/>
              <a:t>7. Demonstrate validation using duplicate or invalid data.</a:t>
            </a:r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endParaRPr sz="2400" dirty="0"/>
          </a:p>
          <a:p>
            <a:pPr>
              <a:spcAft>
                <a:spcPts val="500"/>
              </a:spcAft>
              <a:defRPr sz="1600">
                <a:solidFill>
                  <a:srgbClr val="232323"/>
                </a:solidFill>
              </a:defRPr>
            </a:pPr>
            <a:r>
              <a:rPr sz="2400" dirty="0"/>
              <a:t>Final result: structured storage and retrieval of library information.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BB4592-5775-79D7-4F02-0BE4F7025B51}"/>
              </a:ext>
            </a:extLst>
          </p:cNvPr>
          <p:cNvSpPr txBox="1"/>
          <p:nvPr/>
        </p:nvSpPr>
        <p:spPr>
          <a:xfrm>
            <a:off x="872251" y="1423788"/>
            <a:ext cx="857654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700" b="0">
                <a:solidFill>
                  <a:srgbClr val="232323"/>
                </a:solidFill>
              </a:defRPr>
            </a:pPr>
            <a:r>
              <a:rPr sz="2400" dirty="0"/>
              <a:t>The project combines the database design from Review I with Review II implementation.</a:t>
            </a:r>
            <a:br>
              <a:rPr sz="2400" dirty="0"/>
            </a:br>
            <a:br>
              <a:rPr sz="2400" dirty="0"/>
            </a:br>
            <a:r>
              <a:rPr sz="2400" dirty="0"/>
              <a:t>Key learnings: relational modeling, keys and constraints, SQL operations, CRUD, joins, aggregate queries and data validation.</a:t>
            </a:r>
            <a:br>
              <a:rPr sz="2400" dirty="0"/>
            </a:br>
            <a:br>
              <a:rPr sz="2400" dirty="0"/>
            </a:br>
            <a:r>
              <a:rPr sz="2400" dirty="0"/>
              <a:t>Future enhancements: barcode scanning, multi-library search, wrong-rack alerts and transfer tracking.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F513CBE2-66AF-A982-0CC5-B24C79BA9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  <a:defRPr sz="2000" b="1">
                <a:solidFill>
                  <a:srgbClr val="1E3755"/>
                </a:solidFill>
              </a:defRPr>
            </a:pPr>
            <a:r>
              <a:t>CONCLUSION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2677</TotalTime>
  <Words>1625</Words>
  <Application>Microsoft Office PowerPoint</Application>
  <PresentationFormat>Custom</PresentationFormat>
  <Paragraphs>228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Calibri</vt:lpstr>
      <vt:lpstr>Cambria</vt:lpstr>
      <vt:lpstr>Palatino Linotype</vt:lpstr>
      <vt:lpstr>Times New Roman</vt:lpstr>
      <vt:lpstr>Office Theme</vt:lpstr>
      <vt:lpstr>Database Management Systems Cornerstone Project Final Review (Review II)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Praveen Tummalapalli</cp:lastModifiedBy>
  <cp:revision>50</cp:revision>
  <cp:lastPrinted>2025-10-14T18:21:49Z</cp:lastPrinted>
  <dcterms:created xsi:type="dcterms:W3CDTF">2025-10-10T08:28:06Z</dcterms:created>
  <dcterms:modified xsi:type="dcterms:W3CDTF">2026-09-30T19:55:30Z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